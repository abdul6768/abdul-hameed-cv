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DM Sans" pitchFamily="2" charset="0"/>
      <p:regular r:id="rId24"/>
      <p:bold r:id="rId25"/>
      <p:italic r:id="rId26"/>
      <p:boldItalic r:id="rId27"/>
    </p:embeddedFont>
    <p:embeddedFont>
      <p:font typeface="DM Sans Medium" pitchFamily="2" charset="0"/>
      <p:regular r:id="rId28"/>
      <p:bold r:id="rId29"/>
      <p:italic r:id="rId30"/>
      <p:boldItalic r:id="rId31"/>
    </p:embeddedFont>
    <p:embeddedFont>
      <p:font typeface="Merriweather" panose="000005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1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Hameed" userId="927015356d13ec96" providerId="LiveId" clId="{7297035E-FB08-4EEE-95F1-B50AAE8DC85F}"/>
    <pc:docChg chg="undo redo custSel modSld">
      <pc:chgData name="Abdul Hameed" userId="927015356d13ec96" providerId="LiveId" clId="{7297035E-FB08-4EEE-95F1-B50AAE8DC85F}" dt="2026-03-07T06:57:15.375" v="162" actId="255"/>
      <pc:docMkLst>
        <pc:docMk/>
      </pc:docMkLst>
      <pc:sldChg chg="modSp mod">
        <pc:chgData name="Abdul Hameed" userId="927015356d13ec96" providerId="LiveId" clId="{7297035E-FB08-4EEE-95F1-B50AAE8DC85F}" dt="2026-03-07T06:57:15.375" v="162" actId="255"/>
        <pc:sldMkLst>
          <pc:docMk/>
          <pc:sldMk cId="0" sldId="256"/>
        </pc:sldMkLst>
        <pc:spChg chg="mod">
          <ac:chgData name="Abdul Hameed" userId="927015356d13ec96" providerId="LiveId" clId="{7297035E-FB08-4EEE-95F1-B50AAE8DC85F}" dt="2026-03-07T06:57:15.375" v="162" actId="255"/>
          <ac:spMkLst>
            <pc:docMk/>
            <pc:sldMk cId="0" sldId="256"/>
            <ac:spMk id="88" creationId="{00000000-0000-0000-0000-000000000000}"/>
          </ac:spMkLst>
        </pc:spChg>
      </pc:sldChg>
      <pc:sldChg chg="modSp mod modNotes">
        <pc:chgData name="Abdul Hameed" userId="927015356d13ec96" providerId="LiveId" clId="{7297035E-FB08-4EEE-95F1-B50AAE8DC85F}" dt="2026-01-22T03:03:29.536" v="11" actId="14100"/>
        <pc:sldMkLst>
          <pc:docMk/>
          <pc:sldMk cId="0" sldId="258"/>
        </pc:sldMkLst>
      </pc:sldChg>
      <pc:sldChg chg="modSp mod modNotes">
        <pc:chgData name="Abdul Hameed" userId="927015356d13ec96" providerId="LiveId" clId="{7297035E-FB08-4EEE-95F1-B50AAE8DC85F}" dt="2026-01-22T03:05:41.450" v="30" actId="14100"/>
        <pc:sldMkLst>
          <pc:docMk/>
          <pc:sldMk cId="0" sldId="259"/>
        </pc:sldMkLst>
      </pc:sldChg>
      <pc:sldChg chg="addSp modSp mod modNotes">
        <pc:chgData name="Abdul Hameed" userId="927015356d13ec96" providerId="LiveId" clId="{7297035E-FB08-4EEE-95F1-B50AAE8DC85F}" dt="2026-03-07T06:50:19.750" v="114" actId="767"/>
        <pc:sldMkLst>
          <pc:docMk/>
          <pc:sldMk cId="0" sldId="261"/>
        </pc:sldMkLst>
        <pc:spChg chg="add mod">
          <ac:chgData name="Abdul Hameed" userId="927015356d13ec96" providerId="LiveId" clId="{7297035E-FB08-4EEE-95F1-B50AAE8DC85F}" dt="2026-03-07T06:50:19.750" v="114" actId="767"/>
          <ac:spMkLst>
            <pc:docMk/>
            <pc:sldMk cId="0" sldId="261"/>
            <ac:spMk id="2" creationId="{8715C384-8EE6-8B78-C072-2BFC4D511BE1}"/>
          </ac:spMkLst>
        </pc:spChg>
      </pc:sldChg>
      <pc:sldChg chg="modSp mod modNotes">
        <pc:chgData name="Abdul Hameed" userId="927015356d13ec96" providerId="LiveId" clId="{7297035E-FB08-4EEE-95F1-B50AAE8DC85F}" dt="2026-01-22T03:38:25.972" v="34" actId="1076"/>
        <pc:sldMkLst>
          <pc:docMk/>
          <pc:sldMk cId="0" sldId="263"/>
        </pc:sldMkLst>
      </pc:sldChg>
      <pc:sldChg chg="modSp mod modNotes">
        <pc:chgData name="Abdul Hameed" userId="927015356d13ec96" providerId="LiveId" clId="{7297035E-FB08-4EEE-95F1-B50AAE8DC85F}" dt="2026-01-22T03:39:47.988" v="37" actId="1076"/>
        <pc:sldMkLst>
          <pc:docMk/>
          <pc:sldMk cId="0" sldId="267"/>
        </pc:sldMkLst>
      </pc:sldChg>
      <pc:sldChg chg="modSp mod modNotes">
        <pc:chgData name="Abdul Hameed" userId="927015356d13ec96" providerId="LiveId" clId="{7297035E-FB08-4EEE-95F1-B50AAE8DC85F}" dt="2026-03-07T06:56:55.109" v="154" actId="1076"/>
        <pc:sldMkLst>
          <pc:docMk/>
          <pc:sldMk cId="0" sldId="268"/>
        </pc:sldMkLst>
        <pc:picChg chg="mod">
          <ac:chgData name="Abdul Hameed" userId="927015356d13ec96" providerId="LiveId" clId="{7297035E-FB08-4EEE-95F1-B50AAE8DC85F}" dt="2026-03-07T06:56:55.109" v="154" actId="1076"/>
          <ac:picMkLst>
            <pc:docMk/>
            <pc:sldMk cId="0" sldId="268"/>
            <ac:picMk id="280" creationId="{00000000-0000-0000-0000-000000000000}"/>
          </ac:picMkLst>
        </pc:picChg>
      </pc:sldChg>
      <pc:sldChg chg="modSp mod">
        <pc:chgData name="Abdul Hameed" userId="927015356d13ec96" providerId="LiveId" clId="{7297035E-FB08-4EEE-95F1-B50AAE8DC85F}" dt="2026-01-22T03:48:18.862" v="53" actId="255"/>
        <pc:sldMkLst>
          <pc:docMk/>
          <pc:sldMk cId="0" sldId="269"/>
        </pc:sldMkLst>
      </pc:sldChg>
      <pc:sldChg chg="addSp delSp modSp mod">
        <pc:chgData name="Abdul Hameed" userId="927015356d13ec96" providerId="LiveId" clId="{7297035E-FB08-4EEE-95F1-B50AAE8DC85F}" dt="2026-03-07T06:57:03.081" v="159" actId="767"/>
        <pc:sldMkLst>
          <pc:docMk/>
          <pc:sldMk cId="0" sldId="276"/>
        </pc:sldMkLst>
        <pc:spChg chg="add mod">
          <ac:chgData name="Abdul Hameed" userId="927015356d13ec96" providerId="LiveId" clId="{7297035E-FB08-4EEE-95F1-B50AAE8DC85F}" dt="2026-03-07T06:57:03.081" v="159" actId="767"/>
          <ac:spMkLst>
            <pc:docMk/>
            <pc:sldMk cId="0" sldId="276"/>
            <ac:spMk id="2" creationId="{68F753D8-373F-9115-9F26-B4AAED6CA9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85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476625" y="3826550"/>
            <a:ext cx="5238900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Submitted By:</a:t>
            </a:r>
            <a:endParaRPr lang="en-US" sz="18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Sk. Abdul Hameed (22F91A0401) | P. Manohar(22F91A0444)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K. Chaithanya (22F91A0413)       | Ch. Akash (22F91A0405)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476625" y="5352775"/>
            <a:ext cx="5238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Under the Guidance of: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 Dr. CH. Ravikumar M.Tech, Ph.D. (Professor &amp; Principal)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476625" y="6288513"/>
            <a:ext cx="523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Prakasam Engineering College | 2025-2026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90500" y="-5357"/>
            <a:ext cx="11811000" cy="272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CREATE A </a:t>
            </a:r>
            <a:r>
              <a:rPr lang="en-US" sz="44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32</a:t>
            </a:r>
            <a:r>
              <a:rPr lang="en-US" sz="39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-BIT VEDIC MULTIPLIER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9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AND COMPARE IT AGAINST OTHER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9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MULTIPLIER USING A PARALLEL PREFIX ADDER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2744985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 Project Report Submitted for the Award of Bachelor of Technology in Electronics and Communication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400300"/>
            <a:ext cx="5476875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00300"/>
            <a:ext cx="5476875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09625" y="3048000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3676650"/>
            <a:ext cx="46672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Modern Digital Signal Processors (DSPs) require high-speed arithmetic operations. Traditional multipliers like Array and Booth suffer from significant propagation delays as bit-width increases, creating a bottleneck in performance.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62750" y="3048000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Solution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62750" y="3676650"/>
            <a:ext cx="46672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propose a hybrid architecture combining ancient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Vedic Mathematics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(Urdhva Tiryagbhyam sutra) with a modern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Parallel Prefix Adder (PPA)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This design minimizes carry propagation delay and optimizes the Power-Delay Product (PDP).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81225"/>
            <a:ext cx="5476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381000" y="2276772"/>
            <a:ext cx="57507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Ripple Carry Adder Limitations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381000" y="2810172"/>
            <a:ext cx="5476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 conventional designs, the adder stage is the bottleneck. A Ripple Carry Adder (RCA) must wait for the carry bit to propagate from the LSB to the MSB.</a:t>
            </a:r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>
          <a:blip r:embed="rId5"/>
          <a:srcRect/>
          <a:stretch/>
        </p:blipFill>
        <p:spPr>
          <a:xfrm>
            <a:off x="6334125" y="2181225"/>
            <a:ext cx="5476875" cy="37906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3" name="Google Shape;113;p15"/>
          <p:cNvSpPr txBox="1"/>
          <p:nvPr/>
        </p:nvSpPr>
        <p:spPr>
          <a:xfrm>
            <a:off x="762000" y="3915072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Linear Delay Complexity: O(N)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62000" y="4440733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 switching activity leads to increased dynamic power consumption.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5301555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Becomes unusable for real-time 32-bit or 64-bit processing.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"Critical Path" Problem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391507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44407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530155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181225"/>
            <a:ext cx="5476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5"/>
          <a:srcRect/>
          <a:stretch/>
        </p:blipFill>
        <p:spPr>
          <a:xfrm>
            <a:off x="381000" y="2209799"/>
            <a:ext cx="5476875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6334125" y="2094011"/>
            <a:ext cx="57507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Urdhva Tiryagbhyam Sutra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334125" y="2627411"/>
            <a:ext cx="5476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Meaning "Vertically and Crosswise", this sutra enables parallel generation of partial products.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15125" y="3427511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Parallel Generation: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Partial products are generated simultaneously rather than sequentially.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15125" y="4288333"/>
            <a:ext cx="50958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Reduced Logic: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Simplifies the hardware requirements compared to complex Booth encoding.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15125" y="5484316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Scalability: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Ideally suited for a modular "Divide and Conquer" architecture.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Methodology: Vedic Mathematics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42751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2883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5484316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057525"/>
            <a:ext cx="36195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3057525"/>
            <a:ext cx="36195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3057525"/>
            <a:ext cx="361950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90550" y="4257675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2x2 Bit Block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66750" y="4791075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fundamental building block using basic logic gates (AND/Half-Adder).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495800" y="4257675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Intermediate Blocks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572000" y="4791075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4x4, 8x8, and 16x16 bit multipliers constructed by instantiating the lower-order blocks.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01050" y="4257675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32x32 Bit System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477250" y="4791075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final design integrates four 16x16 modules and uses Parallel Prefix Adders for the final sum.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62150" y="34480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8825" y="34480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0" y="344805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Hierarchical Architecture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819150" y="1885950"/>
            <a:ext cx="10553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32-bit multiplier is constructed using a bottom-up approach, instantiating smaller blocks to build complex systems.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1181100"/>
            <a:ext cx="520065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Accelerating Addition with PPA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2466975"/>
            <a:ext cx="4953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29718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 solve the carry propagation delay, we replace the RCA with 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Parallel Prefix Adder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(like Kogge-Stone or Han-Carlson).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42672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PPA computes carry signals in logarithmic time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O(log N)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essentially "looking ahead" to determine carry status without waiting for the ripple effect. This is crucial for wide bit-width multipliers (32-bit and above).</a:t>
            </a:r>
            <a:endParaRPr/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4"/>
          <a:srcRect/>
          <a:stretch/>
        </p:blipFill>
        <p:spPr>
          <a:xfrm>
            <a:off x="5934075" y="1181100"/>
            <a:ext cx="6096000" cy="463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352675"/>
            <a:ext cx="36195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352675"/>
            <a:ext cx="36195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352675"/>
            <a:ext cx="361950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666750" y="2686050"/>
            <a:ext cx="3048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90550" y="3552825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Pre-Processing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66750" y="4086225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Compute Generate (G) and Propagate (P) signals for each input bit pair.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66750" y="5191125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Pi = Ai ^ Bi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Gi = Ai &amp; Bi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4572000" y="2686050"/>
            <a:ext cx="3048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4495800" y="3552825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Carry Generation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572000" y="4086225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Compute carries in parallel using the prefix graph network (e.g., Brent-Kung, Kogge-Stone logic). This is the fastest stage.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477250" y="2686050"/>
            <a:ext cx="3048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401050" y="3552825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Post-Processing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477250" y="4086225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Calculate the final Sum and Carry-out based on the pre-processed P signals and generated Carries.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477250" y="5191125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Si = Pi ^ Ci-1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PPA Processing Stages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71500" y="1200150"/>
            <a:ext cx="520065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32-Bit Vedic Multiplier Architecture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3057525"/>
            <a:ext cx="4953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35623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architecture diagram illustrates the integration of four 16-bit Vedic multipliers to form the 32-bit system.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45529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Note the placement of the Parallel Prefix Adders (PPA) which take the outputs from the sub-multipliers to generate the final 64-bit product (C63:C0).</a:t>
            </a:r>
            <a:endParaRPr/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4"/>
          <a:srcRect/>
          <a:stretch/>
        </p:blipFill>
        <p:spPr>
          <a:xfrm>
            <a:off x="5934075" y="1200150"/>
            <a:ext cx="6096000" cy="4581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04975"/>
            <a:ext cx="54768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81000" y="2299692"/>
            <a:ext cx="5476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followed a standard ASIC/FPGA design flow to implement the project.</a:t>
            </a:r>
            <a:endParaRPr/>
          </a:p>
        </p:txBody>
      </p:sp>
      <p:pic>
        <p:nvPicPr>
          <p:cNvPr id="210" name="Google Shape;21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63320" y="1704975"/>
            <a:ext cx="5018335" cy="476235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762000" y="3099792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Specification: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Defining 32-bit requirements.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762000" y="3625453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RTL Coding: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Writing Verilog code for modules.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62000" y="4151114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Functional Verification: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Simulation using test benches.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62000" y="5011935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Synthesis: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Converting RTL to gate-level netlist.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762000" y="5537596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Implementation: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Place &amp; Route on target FPGA.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VLSI Design Methodology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  <p:pic>
        <p:nvPicPr>
          <p:cNvPr id="219" name="Google Shape;21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30997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362545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415111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50119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5537596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362200"/>
            <a:ext cx="5476875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62200"/>
            <a:ext cx="5476875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809625" y="3009900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Hardware Description Language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09625" y="363855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Verilog HDL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809625" y="4324350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Used for behavioral and structural modeling of the Vedic Multiplier and PPA modules. The code is modular and portable.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762750" y="3009900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Synthesis &amp; Simulation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762750" y="363855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Xilinx ISE 8.1i / Vivado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762750" y="4324350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Used for synthesizing the design, analyzing timing reports, and performing functional simulation (ISim) to verify logic correctness.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Implementation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352675"/>
            <a:ext cx="36195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352675"/>
            <a:ext cx="36195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352675"/>
            <a:ext cx="361950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590550" y="3552825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Top Module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66750" y="4086225"/>
            <a:ext cx="30480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vedic_32x32.v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Inputs: a[31:0], b[31:0]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Output: c[63:0]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4495800" y="3552825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Sub-Modules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4572000" y="4086225"/>
            <a:ext cx="30480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vedic_16x16.v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vedic_8x8.v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vedic_4x4.v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vedic_2x2.v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8401050" y="3552825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Adder Modules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8477250" y="4086225"/>
            <a:ext cx="3048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hc.v (Han-Carlson PPA)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half_adder.v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gp.v (Generate/Propagate)</a:t>
            </a:r>
            <a:endParaRPr/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05000" y="27432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8825" y="27432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29800" y="274320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Verilog Module Hierarchy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571500" y="1481137"/>
            <a:ext cx="520065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Simulation Results: RTL View</a:t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571500" y="2767012"/>
            <a:ext cx="4953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32718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Register Transfer Level (RTL) schematic confirms the hierarchical structure of the design.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571500" y="4262437"/>
            <a:ext cx="49530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top-level block vedic_32x32 correctly instantiates four 16-bit multipliers and the necessary adder logic, matching our architectural plan.</a:t>
            </a:r>
            <a:endParaRPr/>
          </a:p>
        </p:txBody>
      </p:sp>
      <p:pic>
        <p:nvPicPr>
          <p:cNvPr id="269" name="Google Shape;269;p24"/>
          <p:cNvPicPr preferRelativeResize="0"/>
          <p:nvPr/>
        </p:nvPicPr>
        <p:blipFill>
          <a:blip r:embed="rId4"/>
          <a:srcRect/>
          <a:stretch/>
        </p:blipFill>
        <p:spPr>
          <a:xfrm>
            <a:off x="5934075" y="1481137"/>
            <a:ext cx="6096000" cy="3982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571500" y="838200"/>
            <a:ext cx="520065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Functional Verification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71500" y="2124075"/>
            <a:ext cx="4953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571500" y="2628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Simulation waveforms verify the logical correctness of the multiplier.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571500" y="36195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Test Case: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Input A: Valid 32-bit Integer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Input B: Valid 32-bit Integer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Output C: Correct 64-bit Product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571500" y="52197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waveform shows zero latency errors and correct partial product aggregation.</a:t>
            </a:r>
            <a:endParaRPr/>
          </a:p>
        </p:txBody>
      </p:sp>
      <p:pic>
        <p:nvPicPr>
          <p:cNvPr id="280" name="Google Shape;280;p25"/>
          <p:cNvPicPr preferRelativeResize="0"/>
          <p:nvPr/>
        </p:nvPicPr>
        <p:blipFill>
          <a:blip r:embed="rId4"/>
          <a:srcRect/>
          <a:stretch/>
        </p:blipFill>
        <p:spPr>
          <a:xfrm>
            <a:off x="5810250" y="2124075"/>
            <a:ext cx="6096000" cy="370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1172025" y="3930600"/>
            <a:ext cx="2343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21.</a:t>
            </a:r>
            <a:r>
              <a:rPr lang="en-US" sz="60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6</a:t>
            </a:r>
            <a:endParaRPr sz="6000" dirty="0"/>
          </a:p>
        </p:txBody>
      </p:sp>
      <p:sp>
        <p:nvSpPr>
          <p:cNvPr id="287" name="Google Shape;287;p26"/>
          <p:cNvSpPr txBox="1"/>
          <p:nvPr/>
        </p:nvSpPr>
        <p:spPr>
          <a:xfrm>
            <a:off x="1255662" y="4933950"/>
            <a:ext cx="23431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NANOSECONDS (DELAY)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5348150" y="3930600"/>
            <a:ext cx="2276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46.2</a:t>
            </a:r>
            <a:endParaRPr dirty="0"/>
          </a:p>
        </p:txBody>
      </p:sp>
      <p:sp>
        <p:nvSpPr>
          <p:cNvPr id="289" name="Google Shape;289;p26"/>
          <p:cNvSpPr txBox="1"/>
          <p:nvPr/>
        </p:nvSpPr>
        <p:spPr>
          <a:xfrm>
            <a:off x="5348138" y="4933950"/>
            <a:ext cx="22764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MHZ (MAX FREQUENCY)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9373950" y="3896775"/>
            <a:ext cx="1714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16%</a:t>
            </a:r>
            <a:endParaRPr sz="1300"/>
          </a:p>
        </p:txBody>
      </p:sp>
      <p:sp>
        <p:nvSpPr>
          <p:cNvPr id="291" name="Google Shape;291;p26"/>
          <p:cNvSpPr txBox="1"/>
          <p:nvPr/>
        </p:nvSpPr>
        <p:spPr>
          <a:xfrm>
            <a:off x="9373975" y="4942275"/>
            <a:ext cx="1714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LOGIC DELAY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Timing Analysis (Critical Path)</a:t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2286000" y="169545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synthesis report confirms that the Parallel Prefix Adder significantly reduces the path delay compared to standard designs.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 flipH="1">
            <a:off x="11143838" y="5181600"/>
            <a:ext cx="6009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5687" y="24193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0062" y="3133725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 txBox="1"/>
          <p:nvPr/>
        </p:nvSpPr>
        <p:spPr>
          <a:xfrm>
            <a:off x="381000" y="3019425"/>
            <a:ext cx="57507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Efficient Area Usage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381000" y="3552825"/>
            <a:ext cx="5476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Despite the complexity of PPA, the design maintains a reasonable footprint on the FPGA.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695325" y="4352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762000" y="435292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Target Device: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Spartan-3 / Artix-7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695325" y="46577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762000" y="465772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Route Delay: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~84% (Due to interconnect complexity)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695325" y="49625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762000" y="496252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Logic Delay: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~16% (Fast processing)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Device Utilization (Area)</a:t>
            </a:r>
            <a:endParaRPr/>
          </a:p>
        </p:txBody>
      </p:sp>
      <p:sp>
        <p:nvSpPr>
          <p:cNvPr id="313" name="Google Shape;313;p27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 txBox="1"/>
          <p:nvPr/>
        </p:nvSpPr>
        <p:spPr>
          <a:xfrm>
            <a:off x="762000" y="3038772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 Speed: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Logarithmic delay reduction using PPA.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762000" y="3564433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Regular Structure: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Easier to lay out on silicon compared to Wallace Trees.</a:t>
            </a:r>
            <a:endParaRPr/>
          </a:p>
        </p:txBody>
      </p:sp>
      <p:sp>
        <p:nvSpPr>
          <p:cNvPr id="322" name="Google Shape;322;p28"/>
          <p:cNvSpPr txBox="1"/>
          <p:nvPr/>
        </p:nvSpPr>
        <p:spPr>
          <a:xfrm>
            <a:off x="762000" y="4425255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 Encoding Overhead: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Faster than Booth's algorithm which requires encoding time.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6715125" y="2871192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Power Efficient: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Reduced glitching activity compared to Array multipliers.</a:t>
            </a:r>
            <a:endParaRPr/>
          </a:p>
        </p:txBody>
      </p:sp>
      <p:sp>
        <p:nvSpPr>
          <p:cNvPr id="324" name="Google Shape;324;p28"/>
          <p:cNvSpPr txBox="1"/>
          <p:nvPr/>
        </p:nvSpPr>
        <p:spPr>
          <a:xfrm>
            <a:off x="6715125" y="3732014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Scalability: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Easily expandable to 64-bit or 128-bit architectures.</a:t>
            </a:r>
            <a:endParaRPr/>
          </a:p>
        </p:txBody>
      </p:sp>
      <p:sp>
        <p:nvSpPr>
          <p:cNvPr id="325" name="Google Shape;325;p28"/>
          <p:cNvSpPr txBox="1"/>
          <p:nvPr/>
        </p:nvSpPr>
        <p:spPr>
          <a:xfrm>
            <a:off x="6715125" y="4592835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Throughput: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Higher operations per second for DSP applications.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Advantages</a:t>
            </a:r>
            <a:endParaRPr/>
          </a:p>
        </p:txBody>
      </p:sp>
      <p:sp>
        <p:nvSpPr>
          <p:cNvPr id="327" name="Google Shape;327;p28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  <p:pic>
        <p:nvPicPr>
          <p:cNvPr id="329" name="Google Shape;32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03877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5644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4252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8711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73201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59283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695450"/>
            <a:ext cx="11430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9"/>
          <p:cNvSpPr txBox="1"/>
          <p:nvPr/>
        </p:nvSpPr>
        <p:spPr>
          <a:xfrm>
            <a:off x="381000" y="5838825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Comparison of Propagation Delay (Lower is Better)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 Comparison</a:t>
            </a:r>
            <a:endParaRPr/>
          </a:p>
        </p:txBody>
      </p:sp>
      <p:sp>
        <p:nvSpPr>
          <p:cNvPr id="343" name="Google Shape;343;p29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9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200275"/>
            <a:ext cx="2643187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09937" y="2200275"/>
            <a:ext cx="2643187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200275"/>
            <a:ext cx="2643187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67812" y="2200275"/>
            <a:ext cx="2643187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0"/>
          <p:cNvSpPr txBox="1"/>
          <p:nvPr/>
        </p:nvSpPr>
        <p:spPr>
          <a:xfrm>
            <a:off x="614957" y="3400425"/>
            <a:ext cx="21752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DSP Systems</a:t>
            </a:r>
            <a:endParaRPr/>
          </a:p>
        </p:txBody>
      </p:sp>
      <p:sp>
        <p:nvSpPr>
          <p:cNvPr id="355" name="Google Shape;355;p30"/>
          <p:cNvSpPr txBox="1"/>
          <p:nvPr/>
        </p:nvSpPr>
        <p:spPr>
          <a:xfrm>
            <a:off x="666750" y="3933825"/>
            <a:ext cx="20716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Digital Signal Processing for filtering and noise reduction.</a:t>
            </a:r>
            <a:endParaRPr/>
          </a:p>
        </p:txBody>
      </p:sp>
      <p:sp>
        <p:nvSpPr>
          <p:cNvPr id="356" name="Google Shape;356;p30"/>
          <p:cNvSpPr txBox="1"/>
          <p:nvPr/>
        </p:nvSpPr>
        <p:spPr>
          <a:xfrm>
            <a:off x="3543895" y="3400425"/>
            <a:ext cx="217527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FFT Algorithms</a:t>
            </a:r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3595687" y="4276725"/>
            <a:ext cx="207168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Fast Fourier Transforms requiring massive complex multiplications.</a:t>
            </a:r>
            <a:endParaRPr/>
          </a:p>
        </p:txBody>
      </p:sp>
      <p:sp>
        <p:nvSpPr>
          <p:cNvPr id="358" name="Google Shape;358;p30"/>
          <p:cNvSpPr txBox="1"/>
          <p:nvPr/>
        </p:nvSpPr>
        <p:spPr>
          <a:xfrm>
            <a:off x="6472832" y="3400425"/>
            <a:ext cx="21752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MAC Units</a:t>
            </a:r>
            <a:endParaRPr/>
          </a:p>
        </p:txBody>
      </p:sp>
      <p:sp>
        <p:nvSpPr>
          <p:cNvPr id="359" name="Google Shape;359;p30"/>
          <p:cNvSpPr txBox="1"/>
          <p:nvPr/>
        </p:nvSpPr>
        <p:spPr>
          <a:xfrm>
            <a:off x="6524625" y="3933825"/>
            <a:ext cx="207168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Multiply-Accumulate units in microprocessors and AI accelerators.</a:t>
            </a:r>
            <a:endParaRPr/>
          </a:p>
        </p:txBody>
      </p:sp>
      <p:sp>
        <p:nvSpPr>
          <p:cNvPr id="360" name="Google Shape;360;p30"/>
          <p:cNvSpPr txBox="1"/>
          <p:nvPr/>
        </p:nvSpPr>
        <p:spPr>
          <a:xfrm>
            <a:off x="9401770" y="3400425"/>
            <a:ext cx="21752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Cryptography</a:t>
            </a:r>
            <a:endParaRPr/>
          </a:p>
        </p:txBody>
      </p:sp>
      <p:sp>
        <p:nvSpPr>
          <p:cNvPr id="361" name="Google Shape;361;p30"/>
          <p:cNvSpPr txBox="1"/>
          <p:nvPr/>
        </p:nvSpPr>
        <p:spPr>
          <a:xfrm>
            <a:off x="9453562" y="3933825"/>
            <a:ext cx="207168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High-speed encryption key generation.</a:t>
            </a:r>
            <a:endParaRPr/>
          </a:p>
        </p:txBody>
      </p:sp>
      <p:pic>
        <p:nvPicPr>
          <p:cNvPr id="362" name="Google Shape;362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16843" y="25908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31506" y="25908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31868" y="2590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60806" y="2590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0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Real-World Applications</a:t>
            </a:r>
            <a:endParaRPr/>
          </a:p>
        </p:txBody>
      </p:sp>
      <p:sp>
        <p:nvSpPr>
          <p:cNvPr id="367" name="Google Shape;367;p30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0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3587" y="1637407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1295400" y="2399407"/>
            <a:ext cx="9601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"Combining ancient algorithms with modern logic synthesis yields superior performance."</a:t>
            </a:r>
            <a:endParaRPr/>
          </a:p>
        </p:txBody>
      </p:sp>
      <p:sp>
        <p:nvSpPr>
          <p:cNvPr id="376" name="Google Shape;376;p31"/>
          <p:cNvSpPr txBox="1"/>
          <p:nvPr/>
        </p:nvSpPr>
        <p:spPr>
          <a:xfrm>
            <a:off x="1524000" y="3894832"/>
            <a:ext cx="91440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32-bit Vedic Multiplier with PPA successfully bridges the gap between speed requirements and area constraints, proving to be an optimal solution for modern VLSI systems.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381000" y="2981325"/>
            <a:ext cx="5476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 Swami Bharati Krishna Tirthaji, "Vedic Mathematics", Motilal Banarsidass Publications, 1965.</a:t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381000" y="3781425"/>
            <a:ext cx="5476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2. Neil H. E. Weste, "CMOS VLSI Design: A Circuits and Systems Perspective".</a:t>
            </a:r>
            <a:endParaRPr/>
          </a:p>
        </p:txBody>
      </p:sp>
      <p:sp>
        <p:nvSpPr>
          <p:cNvPr id="384" name="Google Shape;384;p32"/>
          <p:cNvSpPr txBox="1"/>
          <p:nvPr/>
        </p:nvSpPr>
        <p:spPr>
          <a:xfrm>
            <a:off x="381000" y="4581525"/>
            <a:ext cx="5476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3. Samir Palnitkar, "Verilog HDL: A Guide to Digital Design and Synthesis".</a:t>
            </a:r>
            <a:endParaRPr/>
          </a:p>
        </p:txBody>
      </p:sp>
      <p:sp>
        <p:nvSpPr>
          <p:cNvPr id="385" name="Google Shape;385;p32"/>
          <p:cNvSpPr txBox="1"/>
          <p:nvPr/>
        </p:nvSpPr>
        <p:spPr>
          <a:xfrm>
            <a:off x="6334125" y="3228975"/>
            <a:ext cx="5476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4. H. D. Tiwari et al., "Multiplier design based on ancient Indian Vedic Mathematics", ISOCC 2008.</a:t>
            </a:r>
            <a:endParaRPr/>
          </a:p>
        </p:txBody>
      </p:sp>
      <p:sp>
        <p:nvSpPr>
          <p:cNvPr id="386" name="Google Shape;386;p32"/>
          <p:cNvSpPr txBox="1"/>
          <p:nvPr/>
        </p:nvSpPr>
        <p:spPr>
          <a:xfrm>
            <a:off x="6334125" y="4029075"/>
            <a:ext cx="5476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5. P. M. Kogge and H. S. Stone, "A Parallel Algorithm for the Efficient Solution of a General Class of Recurrence Equations", 1973.</a:t>
            </a:r>
            <a:endParaRPr/>
          </a:p>
        </p:txBody>
      </p:sp>
      <p:sp>
        <p:nvSpPr>
          <p:cNvPr id="387" name="Google Shape;387;p32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  <a:endParaRPr/>
          </a:p>
        </p:txBody>
      </p:sp>
      <p:sp>
        <p:nvSpPr>
          <p:cNvPr id="388" name="Google Shape;388;p32"/>
          <p:cNvSpPr/>
          <p:nvPr/>
        </p:nvSpPr>
        <p:spPr>
          <a:xfrm>
            <a:off x="381000" y="1095375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 txBox="1"/>
          <p:nvPr/>
        </p:nvSpPr>
        <p:spPr>
          <a:xfrm>
            <a:off x="10982325" y="6496050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Batch 10 - ECE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3"/>
          <p:cNvSpPr txBox="1"/>
          <p:nvPr/>
        </p:nvSpPr>
        <p:spPr>
          <a:xfrm>
            <a:off x="4455750" y="3128850"/>
            <a:ext cx="3280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753D8-373F-9115-9F26-B4AAED6CA98F}"/>
              </a:ext>
            </a:extLst>
          </p:cNvPr>
          <p:cNvSpPr txBox="1"/>
          <p:nvPr/>
        </p:nvSpPr>
        <p:spPr>
          <a:xfrm>
            <a:off x="10662699" y="6575729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1288</Words>
  <Application>Microsoft Office PowerPoint</Application>
  <PresentationFormat>Widescreen</PresentationFormat>
  <Paragraphs>135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Merriweather</vt:lpstr>
      <vt:lpstr>DM Sans</vt:lpstr>
      <vt:lpstr>Arial</vt:lpstr>
      <vt:lpstr>DM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 Hameed</cp:lastModifiedBy>
  <cp:revision>1</cp:revision>
  <dcterms:modified xsi:type="dcterms:W3CDTF">2026-03-07T06:58:16Z</dcterms:modified>
</cp:coreProperties>
</file>