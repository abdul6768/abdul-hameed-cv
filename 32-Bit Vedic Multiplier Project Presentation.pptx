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DM Sans Medium" pitchFamily="2" charset="0"/>
      <p:regular r:id="rId28"/>
      <p:bold r:id="rId29"/>
      <p:italic r:id="rId30"/>
      <p:boldItalic r:id="rId31"/>
    </p:embeddedFont>
    <p:embeddedFont>
      <p:font typeface="Merriweather" panose="00000500000000000000" pitchFamily="2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12" y="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dul Hameed" userId="927015356d13ec96" providerId="LiveId" clId="{7297035E-FB08-4EEE-95F1-B50AAE8DC85F}"/>
    <pc:docChg chg="undo redo custSel modSld">
      <pc:chgData name="Abdul Hameed" userId="927015356d13ec96" providerId="LiveId" clId="{7297035E-FB08-4EEE-95F1-B50AAE8DC85F}" dt="2026-01-27T04:03:08.372" v="63" actId="1036"/>
      <pc:docMkLst>
        <pc:docMk/>
      </pc:docMkLst>
      <pc:sldChg chg="modSp mod">
        <pc:chgData name="Abdul Hameed" userId="927015356d13ec96" providerId="LiveId" clId="{7297035E-FB08-4EEE-95F1-B50AAE8DC85F}" dt="2026-01-27T04:03:08.372" v="63" actId="1036"/>
        <pc:sldMkLst>
          <pc:docMk/>
          <pc:sldMk cId="0" sldId="256"/>
        </pc:sldMkLst>
        <pc:spChg chg="mod">
          <ac:chgData name="Abdul Hameed" userId="927015356d13ec96" providerId="LiveId" clId="{7297035E-FB08-4EEE-95F1-B50AAE8DC85F}" dt="2026-01-22T02:49:23.146" v="8" actId="20577"/>
          <ac:spMkLst>
            <pc:docMk/>
            <pc:sldMk cId="0" sldId="256"/>
            <ac:spMk id="85" creationId="{00000000-0000-0000-0000-000000000000}"/>
          </ac:spMkLst>
        </pc:spChg>
        <pc:picChg chg="mod">
          <ac:chgData name="Abdul Hameed" userId="927015356d13ec96" providerId="LiveId" clId="{7297035E-FB08-4EEE-95F1-B50AAE8DC85F}" dt="2026-01-27T04:03:08.372" v="63" actId="1036"/>
          <ac:picMkLst>
            <pc:docMk/>
            <pc:sldMk cId="0" sldId="256"/>
            <ac:picMk id="84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03:29.536" v="11" actId="14100"/>
        <pc:sldMkLst>
          <pc:docMk/>
          <pc:sldMk cId="0" sldId="258"/>
        </pc:sldMkLst>
        <pc:picChg chg="mod">
          <ac:chgData name="Abdul Hameed" userId="927015356d13ec96" providerId="LiveId" clId="{7297035E-FB08-4EEE-95F1-B50AAE8DC85F}" dt="2026-01-22T03:03:29.536" v="11" actId="14100"/>
          <ac:picMkLst>
            <pc:docMk/>
            <pc:sldMk cId="0" sldId="258"/>
            <ac:picMk id="112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05:41.450" v="30" actId="14100"/>
        <pc:sldMkLst>
          <pc:docMk/>
          <pc:sldMk cId="0" sldId="259"/>
        </pc:sldMkLst>
        <pc:picChg chg="mod">
          <ac:chgData name="Abdul Hameed" userId="927015356d13ec96" providerId="LiveId" clId="{7297035E-FB08-4EEE-95F1-B50AAE8DC85F}" dt="2026-01-22T03:05:41.450" v="30" actId="14100"/>
          <ac:picMkLst>
            <pc:docMk/>
            <pc:sldMk cId="0" sldId="259"/>
            <ac:picMk id="128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37:50.270" v="32" actId="1076"/>
        <pc:sldMkLst>
          <pc:docMk/>
          <pc:sldMk cId="0" sldId="261"/>
        </pc:sldMkLst>
        <pc:picChg chg="mod">
          <ac:chgData name="Abdul Hameed" userId="927015356d13ec96" providerId="LiveId" clId="{7297035E-FB08-4EEE-95F1-B50AAE8DC85F}" dt="2026-01-22T03:37:50.270" v="32" actId="1076"/>
          <ac:picMkLst>
            <pc:docMk/>
            <pc:sldMk cId="0" sldId="261"/>
            <ac:picMk id="170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38:25.972" v="34" actId="1076"/>
        <pc:sldMkLst>
          <pc:docMk/>
          <pc:sldMk cId="0" sldId="263"/>
        </pc:sldMkLst>
        <pc:picChg chg="mod">
          <ac:chgData name="Abdul Hameed" userId="927015356d13ec96" providerId="LiveId" clId="{7297035E-FB08-4EEE-95F1-B50AAE8DC85F}" dt="2026-01-22T03:38:25.972" v="34" actId="1076"/>
          <ac:picMkLst>
            <pc:docMk/>
            <pc:sldMk cId="0" sldId="263"/>
            <ac:picMk id="202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39:47.988" v="37" actId="1076"/>
        <pc:sldMkLst>
          <pc:docMk/>
          <pc:sldMk cId="0" sldId="267"/>
        </pc:sldMkLst>
        <pc:picChg chg="mod">
          <ac:chgData name="Abdul Hameed" userId="927015356d13ec96" providerId="LiveId" clId="{7297035E-FB08-4EEE-95F1-B50AAE8DC85F}" dt="2026-01-22T03:39:47.988" v="37" actId="1076"/>
          <ac:picMkLst>
            <pc:docMk/>
            <pc:sldMk cId="0" sldId="267"/>
            <ac:picMk id="269" creationId="{00000000-0000-0000-0000-000000000000}"/>
          </ac:picMkLst>
        </pc:picChg>
      </pc:sldChg>
      <pc:sldChg chg="modSp mod modNotes">
        <pc:chgData name="Abdul Hameed" userId="927015356d13ec96" providerId="LiveId" clId="{7297035E-FB08-4EEE-95F1-B50AAE8DC85F}" dt="2026-01-22T03:40:26.389" v="39" actId="1076"/>
        <pc:sldMkLst>
          <pc:docMk/>
          <pc:sldMk cId="0" sldId="268"/>
        </pc:sldMkLst>
        <pc:picChg chg="mod">
          <ac:chgData name="Abdul Hameed" userId="927015356d13ec96" providerId="LiveId" clId="{7297035E-FB08-4EEE-95F1-B50AAE8DC85F}" dt="2026-01-22T03:40:26.389" v="39" actId="1076"/>
          <ac:picMkLst>
            <pc:docMk/>
            <pc:sldMk cId="0" sldId="268"/>
            <ac:picMk id="280" creationId="{00000000-0000-0000-0000-000000000000}"/>
          </ac:picMkLst>
        </pc:picChg>
      </pc:sldChg>
      <pc:sldChg chg="modSp mod">
        <pc:chgData name="Abdul Hameed" userId="927015356d13ec96" providerId="LiveId" clId="{7297035E-FB08-4EEE-95F1-B50AAE8DC85F}" dt="2026-01-22T03:48:18.862" v="53" actId="255"/>
        <pc:sldMkLst>
          <pc:docMk/>
          <pc:sldMk cId="0" sldId="269"/>
        </pc:sldMkLst>
        <pc:spChg chg="mod">
          <ac:chgData name="Abdul Hameed" userId="927015356d13ec96" providerId="LiveId" clId="{7297035E-FB08-4EEE-95F1-B50AAE8DC85F}" dt="2026-01-22T03:48:18.862" v="53" actId="255"/>
          <ac:spMkLst>
            <pc:docMk/>
            <pc:sldMk cId="0" sldId="269"/>
            <ac:spMk id="286" creationId="{00000000-0000-0000-0000-000000000000}"/>
          </ac:spMkLst>
        </pc:spChg>
      </pc:sldChg>
      <pc:sldChg chg="delSp modSp mod">
        <pc:chgData name="Abdul Hameed" userId="927015356d13ec96" providerId="LiveId" clId="{7297035E-FB08-4EEE-95F1-B50AAE8DC85F}" dt="2026-01-22T03:50:13.508" v="60" actId="1076"/>
        <pc:sldMkLst>
          <pc:docMk/>
          <pc:sldMk cId="0" sldId="276"/>
        </pc:sldMkLst>
        <pc:spChg chg="mod">
          <ac:chgData name="Abdul Hameed" userId="927015356d13ec96" providerId="LiveId" clId="{7297035E-FB08-4EEE-95F1-B50AAE8DC85F}" dt="2026-01-22T03:50:13.508" v="60" actId="1076"/>
          <ac:spMkLst>
            <pc:docMk/>
            <pc:sldMk cId="0" sldId="276"/>
            <ac:spMk id="39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385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476625" y="3826550"/>
            <a:ext cx="5238900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rPr>
              <a:t>Submitted By:</a:t>
            </a:r>
            <a:endParaRPr lang="en-US" sz="1800" dirty="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Sk. Abdul Hameed (22F91A0401) | P. Manohar(22F91A0444)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K. Chaithanya (22F91A0413)       | Ch. Akash (22F91A0405)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476625" y="5352775"/>
            <a:ext cx="52389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Under the Guidance of: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 Dr. CH. Ravikumar M.Tech, Ph.D. (Professor &amp; Principal)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476625" y="6288513"/>
            <a:ext cx="5238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Prakasam Engineering College | 2025-2026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90500" y="-5357"/>
            <a:ext cx="11811000" cy="2178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CREATE A 32-BIT VEDIC MULTIPLIER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9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AND COMPARE IT AGAINST OTHER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9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MULTIPLIER USING A PARALLEL PREFIX ADDER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809750" y="2744985"/>
            <a:ext cx="85725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CAA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 Project Report Submitted for the Award of Bachelor of Technology in Electronics and Communication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400300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400300"/>
            <a:ext cx="5476875" cy="3371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809625" y="3048000"/>
            <a:ext cx="49006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Challenge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09625" y="3676650"/>
            <a:ext cx="46672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Modern Digital Signal Processors (DSPs) require high-speed arithmetic operations. Traditional multipliers like Array and Booth suffer from significant propagation delays as bit-width increases, creating a bottleneck in performance.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762750" y="3048000"/>
            <a:ext cx="49006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Solution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762750" y="3676650"/>
            <a:ext cx="46672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We propose a hybrid architecture combining ancient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 Mathematics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(Urdhva Tiryagbhyam sutra) with a modern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Parallel Prefix Adder (PPA)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 This design minimizes carry propagation delay and optimizes the Power-Delay Product (PDP).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Project Overview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181225"/>
            <a:ext cx="54768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5"/>
          <p:cNvSpPr txBox="1"/>
          <p:nvPr/>
        </p:nvSpPr>
        <p:spPr>
          <a:xfrm>
            <a:off x="381000" y="2276772"/>
            <a:ext cx="57507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Ripple Carry Adder Limitations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381000" y="2810172"/>
            <a:ext cx="54768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 conventional designs, the adder stage is the bottleneck. A Ripple Carry Adder (RCA) must wait for the carry bit to propagate from the LSB to the MSB.</a:t>
            </a:r>
            <a:endParaRPr/>
          </a:p>
        </p:txBody>
      </p:sp>
      <p:pic>
        <p:nvPicPr>
          <p:cNvPr id="112" name="Google Shape;112;p15"/>
          <p:cNvPicPr preferRelativeResize="0"/>
          <p:nvPr/>
        </p:nvPicPr>
        <p:blipFill>
          <a:blip r:embed="rId5"/>
          <a:srcRect/>
          <a:stretch/>
        </p:blipFill>
        <p:spPr>
          <a:xfrm>
            <a:off x="6334125" y="2181225"/>
            <a:ext cx="5476875" cy="3790651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  <p:sp>
        <p:nvSpPr>
          <p:cNvPr id="113" name="Google Shape;113;p15"/>
          <p:cNvSpPr txBox="1"/>
          <p:nvPr/>
        </p:nvSpPr>
        <p:spPr>
          <a:xfrm>
            <a:off x="762000" y="3915072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Linear Delay Complexity: O(N)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762000" y="4440733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High switching activity leads to increased dynamic power consumption.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762000" y="5301555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Becomes unusable for real-time 32-bit or 64-bit processing.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"Critical Path" Problem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  <p:pic>
        <p:nvPicPr>
          <p:cNvPr id="119" name="Google Shape;11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91507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444073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5301555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181225"/>
            <a:ext cx="54768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/>
          <a:srcRect/>
          <a:stretch/>
        </p:blipFill>
        <p:spPr>
          <a:xfrm>
            <a:off x="381000" y="2209799"/>
            <a:ext cx="5476875" cy="378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6334125" y="2094011"/>
            <a:ext cx="57507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Urdhva Tiryagbhyam Sutra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334125" y="2627411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Meaning "Vertically and Crosswise", this sutra enables parallel generation of partial products.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715125" y="3427511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Parallel Generation: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Partial products are generated simultaneously rather than sequentially.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715125" y="4288333"/>
            <a:ext cx="509587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Reduced Logic: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Simplifies the hardware requirements compared to complex Booth encoding.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715125" y="5484316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Scalability: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Ideally suited for a modular "Divide and Conquer" architecture.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Methodology: Vedic Mathematics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  <p:pic>
        <p:nvPicPr>
          <p:cNvPr id="137" name="Google Shape;13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3427511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428833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5484316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057525"/>
            <a:ext cx="3619500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0" y="3057525"/>
            <a:ext cx="3619500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3057525"/>
            <a:ext cx="3619500" cy="3124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590550" y="425767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2x2 Bit Block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66750" y="4791075"/>
            <a:ext cx="3048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fundamental building block using basic logic gates (AND/Half-Adder).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4495800" y="425767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Intermediate Blocks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4572000" y="4791075"/>
            <a:ext cx="3048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4x4, 8x8, and 16x16 bit multipliers constructed by instantiating the lower-order blocks.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8401050" y="425767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32x32 Bit System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477250" y="4791075"/>
            <a:ext cx="3048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final design integrates four 16x16 modules and uses Parallel Prefix Adders for the final sum.</a:t>
            </a:r>
            <a:endParaRPr/>
          </a:p>
        </p:txBody>
      </p:sp>
      <p:pic>
        <p:nvPicPr>
          <p:cNvPr id="154" name="Google Shape;154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62150" y="34480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38825" y="344805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715500" y="3448050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7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Hierarchical Architecture</a:t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819150" y="1885950"/>
            <a:ext cx="105537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32-bit multiplier is constructed using a bottom-up approach, instantiating smaller blocks to build complex systems.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1181100"/>
            <a:ext cx="52006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Accelerating Addition with PPA</a:t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571500" y="2466975"/>
            <a:ext cx="4953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571500" y="2971800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To solve the carry propagation delay, we replace the RCA with a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Parallel Prefix Adder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(like Kogge-Stone or Han-Carlson).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571500" y="42672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PPA computes carry signals in logarithmic time </a:t>
            </a: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O(log N)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essentially "looking ahead" to determine carry status without waiting for the ripple effect. This is crucial for wide bit-width multipliers (32-bit and above).</a:t>
            </a:r>
            <a:endParaRPr/>
          </a:p>
        </p:txBody>
      </p:sp>
      <p:pic>
        <p:nvPicPr>
          <p:cNvPr id="170" name="Google Shape;170;p18"/>
          <p:cNvPicPr preferRelativeResize="0"/>
          <p:nvPr/>
        </p:nvPicPr>
        <p:blipFill>
          <a:blip r:embed="rId4"/>
          <a:srcRect/>
          <a:stretch/>
        </p:blipFill>
        <p:spPr>
          <a:xfrm>
            <a:off x="5934075" y="1181100"/>
            <a:ext cx="6096000" cy="4638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666750" y="2686050"/>
            <a:ext cx="3048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1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59055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Pre-Processing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66750" y="4086225"/>
            <a:ext cx="3048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Compute Generate (G) and Propagate (P) signals for each input bit pair.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66750" y="5191125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555555"/>
                </a:solidFill>
                <a:latin typeface="Arial"/>
                <a:ea typeface="Arial"/>
                <a:cs typeface="Arial"/>
                <a:sym typeface="Arial"/>
              </a:rPr>
              <a:t>Pi = Ai ^ Bi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555555"/>
                </a:solidFill>
                <a:latin typeface="Arial"/>
                <a:ea typeface="Arial"/>
                <a:cs typeface="Arial"/>
                <a:sym typeface="Arial"/>
              </a:rPr>
              <a:t> Gi = Ai &amp; Bi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4572000" y="2686050"/>
            <a:ext cx="3048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2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449580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Carry Generation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4572000" y="4086225"/>
            <a:ext cx="30480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Compute carries in parallel using the prefix graph network (e.g., Brent-Kung, Kogge-Stone logic). This is the fastest stage.</a:t>
            </a:r>
            <a:endParaRPr/>
          </a:p>
        </p:txBody>
      </p:sp>
      <p:sp>
        <p:nvSpPr>
          <p:cNvPr id="186" name="Google Shape;186;p19"/>
          <p:cNvSpPr txBox="1"/>
          <p:nvPr/>
        </p:nvSpPr>
        <p:spPr>
          <a:xfrm>
            <a:off x="8477250" y="2686050"/>
            <a:ext cx="3048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CAA0"/>
                </a:solidFill>
                <a:latin typeface="DM Sans"/>
                <a:ea typeface="DM Sans"/>
                <a:cs typeface="DM Sans"/>
                <a:sym typeface="DM Sans"/>
              </a:rPr>
              <a:t>3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840105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Post-Processing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8477250" y="4086225"/>
            <a:ext cx="3048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Calculate the final Sum and Carry-out based on the pre-processed P signals and generated Carries.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8477250" y="5191125"/>
            <a:ext cx="30480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555555"/>
                </a:solidFill>
                <a:latin typeface="Arial"/>
                <a:ea typeface="Arial"/>
                <a:cs typeface="Arial"/>
                <a:sym typeface="Arial"/>
              </a:rPr>
              <a:t>Si = Pi ^ Ci-1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PPA Processing Stages</a:t>
            </a:r>
            <a:endParaRPr/>
          </a:p>
        </p:txBody>
      </p:sp>
      <p:sp>
        <p:nvSpPr>
          <p:cNvPr id="191" name="Google Shape;191;p19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571500" y="1200150"/>
            <a:ext cx="5200650" cy="1743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32-Bit Vedic Multiplier Architecture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71500" y="3057525"/>
            <a:ext cx="4953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571500" y="35623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architecture diagram illustrates the integration of four 16-bit Vedic multipliers to form the 32-bit system.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4552950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Note the placement of the Parallel Prefix Adders (PPA) which take the outputs from the sub-multipliers to generate the final 64-bit product (C63:C0).</a:t>
            </a:r>
            <a:endParaRPr/>
          </a:p>
        </p:txBody>
      </p:sp>
      <p:pic>
        <p:nvPicPr>
          <p:cNvPr id="202" name="Google Shape;202;p20"/>
          <p:cNvPicPr preferRelativeResize="0"/>
          <p:nvPr/>
        </p:nvPicPr>
        <p:blipFill>
          <a:blip r:embed="rId4"/>
          <a:srcRect/>
          <a:stretch/>
        </p:blipFill>
        <p:spPr>
          <a:xfrm>
            <a:off x="5934075" y="1200150"/>
            <a:ext cx="6096000" cy="45818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704975"/>
            <a:ext cx="547687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381000" y="2299692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We followed a standard ASIC/FPGA design flow to implement the project.</a:t>
            </a:r>
            <a:endParaRPr/>
          </a:p>
        </p:txBody>
      </p:sp>
      <p:pic>
        <p:nvPicPr>
          <p:cNvPr id="210" name="Google Shape;210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3320" y="1704975"/>
            <a:ext cx="5018335" cy="4762351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1"/>
          <p:cNvSpPr txBox="1"/>
          <p:nvPr/>
        </p:nvSpPr>
        <p:spPr>
          <a:xfrm>
            <a:off x="762000" y="3099792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Specification: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Defining 32-bit requirements.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762000" y="3625453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RTL Coding: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Writing Verilog code for modules.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762000" y="4151114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Functional Verification: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Simulation using test benches.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762000" y="5011935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Synthesis: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Converting RTL to gate-level netlist.</a:t>
            </a:r>
            <a:endParaRPr/>
          </a:p>
        </p:txBody>
      </p:sp>
      <p:sp>
        <p:nvSpPr>
          <p:cNvPr id="215" name="Google Shape;215;p21"/>
          <p:cNvSpPr txBox="1"/>
          <p:nvPr/>
        </p:nvSpPr>
        <p:spPr>
          <a:xfrm>
            <a:off x="762000" y="5537596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Implementation: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Place &amp; Route on target FPGA.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VLSI Design Methodology</a:t>
            </a:r>
            <a:endParaRPr/>
          </a:p>
        </p:txBody>
      </p:sp>
      <p:sp>
        <p:nvSpPr>
          <p:cNvPr id="217" name="Google Shape;217;p21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  <p:pic>
        <p:nvPicPr>
          <p:cNvPr id="219" name="Google Shape;21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09979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62545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415111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501193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5537596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362200"/>
            <a:ext cx="5476875" cy="3448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362200"/>
            <a:ext cx="5476875" cy="344805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809625" y="3009900"/>
            <a:ext cx="49006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Hardware Description Language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809625" y="36385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Verilog HDL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809625" y="4324350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Used for behavioral and structural modeling of the Vedic Multiplier and PPA modules. The code is modular and portable.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6762750" y="3009900"/>
            <a:ext cx="490061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Synthesis &amp; Simulation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6762750" y="3638550"/>
            <a:ext cx="4667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Xilinx ISE 8.1i / Vivado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6762750" y="4324350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Used for synthesizing the design, analyzing timing reports, and performing functional simulation (ISim) to verify logic correctness.</a:t>
            </a:r>
            <a:endParaRPr/>
          </a:p>
        </p:txBody>
      </p:sp>
      <p:sp>
        <p:nvSpPr>
          <p:cNvPr id="237" name="Google Shape;237;p22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System Implementation</a:t>
            </a:r>
            <a:endParaRPr/>
          </a:p>
        </p:txBody>
      </p:sp>
      <p:sp>
        <p:nvSpPr>
          <p:cNvPr id="238" name="Google Shape;238;p22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2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2352675"/>
            <a:ext cx="3619500" cy="34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9055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Top Module</a:t>
            </a:r>
            <a:endParaRPr/>
          </a:p>
        </p:txBody>
      </p:sp>
      <p:sp>
        <p:nvSpPr>
          <p:cNvPr id="249" name="Google Shape;249;p23"/>
          <p:cNvSpPr txBox="1"/>
          <p:nvPr/>
        </p:nvSpPr>
        <p:spPr>
          <a:xfrm>
            <a:off x="666750" y="4086225"/>
            <a:ext cx="3048000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vedic_32x32.v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Inputs: a[31:0], b[31:0]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Output: c[63:0]</a:t>
            </a:r>
            <a:endParaRPr/>
          </a:p>
        </p:txBody>
      </p:sp>
      <p:sp>
        <p:nvSpPr>
          <p:cNvPr id="250" name="Google Shape;250;p23"/>
          <p:cNvSpPr txBox="1"/>
          <p:nvPr/>
        </p:nvSpPr>
        <p:spPr>
          <a:xfrm>
            <a:off x="449580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Sub-Modules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4572000" y="4086225"/>
            <a:ext cx="3048000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vedic_16x16.v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vedic_8x8.v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vedic_4x4.v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vedic_2x2.v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8401050" y="3552825"/>
            <a:ext cx="3200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Adder Modules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8477250" y="4086225"/>
            <a:ext cx="3048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hc.v (Han-Carlson PPA)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half_adder.v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gp.v (Generate/Propagate)</a:t>
            </a:r>
            <a:endParaRPr/>
          </a:p>
        </p:txBody>
      </p:sp>
      <p:pic>
        <p:nvPicPr>
          <p:cNvPr id="254" name="Google Shape;254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905000" y="274320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38825" y="274320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829800" y="2743200"/>
            <a:ext cx="3429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3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Verilog Module Hierarchy</a:t>
            </a:r>
            <a:endParaRPr/>
          </a:p>
        </p:txBody>
      </p:sp>
      <p:sp>
        <p:nvSpPr>
          <p:cNvPr id="258" name="Google Shape;258;p23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4"/>
          <p:cNvSpPr txBox="1"/>
          <p:nvPr/>
        </p:nvSpPr>
        <p:spPr>
          <a:xfrm>
            <a:off x="571500" y="1481137"/>
            <a:ext cx="52006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Simulation Results: RTL View</a:t>
            </a:r>
            <a:endParaRPr/>
          </a:p>
        </p:txBody>
      </p:sp>
      <p:sp>
        <p:nvSpPr>
          <p:cNvPr id="266" name="Google Shape;266;p24"/>
          <p:cNvSpPr/>
          <p:nvPr/>
        </p:nvSpPr>
        <p:spPr>
          <a:xfrm>
            <a:off x="571500" y="2767012"/>
            <a:ext cx="4953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4"/>
          <p:cNvSpPr txBox="1"/>
          <p:nvPr/>
        </p:nvSpPr>
        <p:spPr>
          <a:xfrm>
            <a:off x="571500" y="32718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Register Transfer Level (RTL) schematic confirms the hierarchical structure of the design.</a:t>
            </a:r>
            <a:endParaRPr/>
          </a:p>
        </p:txBody>
      </p:sp>
      <p:sp>
        <p:nvSpPr>
          <p:cNvPr id="268" name="Google Shape;268;p24"/>
          <p:cNvSpPr txBox="1"/>
          <p:nvPr/>
        </p:nvSpPr>
        <p:spPr>
          <a:xfrm>
            <a:off x="571500" y="4262437"/>
            <a:ext cx="4953000" cy="92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top-level block vedic_32x32 correctly instantiates four 16-bit multipliers and the necessary adder logic, matching our architectural plan.</a:t>
            </a:r>
            <a:endParaRPr/>
          </a:p>
        </p:txBody>
      </p:sp>
      <p:pic>
        <p:nvPicPr>
          <p:cNvPr id="269" name="Google Shape;269;p24"/>
          <p:cNvPicPr preferRelativeResize="0"/>
          <p:nvPr/>
        </p:nvPicPr>
        <p:blipFill>
          <a:blip r:embed="rId4"/>
          <a:srcRect/>
          <a:stretch/>
        </p:blipFill>
        <p:spPr>
          <a:xfrm>
            <a:off x="5934075" y="1481137"/>
            <a:ext cx="6096000" cy="3982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5"/>
          <p:cNvSpPr txBox="1"/>
          <p:nvPr/>
        </p:nvSpPr>
        <p:spPr>
          <a:xfrm>
            <a:off x="571500" y="838200"/>
            <a:ext cx="52006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Verification</a:t>
            </a:r>
            <a:endParaRPr/>
          </a:p>
        </p:txBody>
      </p:sp>
      <p:sp>
        <p:nvSpPr>
          <p:cNvPr id="276" name="Google Shape;276;p25"/>
          <p:cNvSpPr/>
          <p:nvPr/>
        </p:nvSpPr>
        <p:spPr>
          <a:xfrm>
            <a:off x="571500" y="2124075"/>
            <a:ext cx="4953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5"/>
          <p:cNvSpPr txBox="1"/>
          <p:nvPr/>
        </p:nvSpPr>
        <p:spPr>
          <a:xfrm>
            <a:off x="571500" y="26289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Simulation waveforms verify the logical correctness of the multiplier.</a:t>
            </a:r>
            <a:endParaRPr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36195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Test Case: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Input A: Valid 32-bit Integer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Input B: Valid 32-bit Integer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Output C: Correct 64-bit Product</a:t>
            </a:r>
            <a:endParaRPr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52197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waveform shows zero latency errors and correct partial product aggregation.</a:t>
            </a:r>
            <a:endParaRPr/>
          </a:p>
        </p:txBody>
      </p:sp>
      <p:pic>
        <p:nvPicPr>
          <p:cNvPr id="280" name="Google Shape;280;p25"/>
          <p:cNvPicPr preferRelativeResize="0"/>
          <p:nvPr/>
        </p:nvPicPr>
        <p:blipFill>
          <a:blip r:embed="rId4"/>
          <a:srcRect/>
          <a:stretch/>
        </p:blipFill>
        <p:spPr>
          <a:xfrm>
            <a:off x="5934075" y="2009775"/>
            <a:ext cx="6096000" cy="40357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6"/>
          <p:cNvSpPr txBox="1"/>
          <p:nvPr/>
        </p:nvSpPr>
        <p:spPr>
          <a:xfrm>
            <a:off x="1172025" y="3930600"/>
            <a:ext cx="23433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21.</a:t>
            </a:r>
            <a:r>
              <a:rPr lang="en-US" sz="6000" b="1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6</a:t>
            </a:r>
            <a:endParaRPr sz="6000" dirty="0"/>
          </a:p>
        </p:txBody>
      </p:sp>
      <p:sp>
        <p:nvSpPr>
          <p:cNvPr id="287" name="Google Shape;287;p26"/>
          <p:cNvSpPr txBox="1"/>
          <p:nvPr/>
        </p:nvSpPr>
        <p:spPr>
          <a:xfrm>
            <a:off x="1255662" y="4933950"/>
            <a:ext cx="234315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NANOSECONDS (DELAY)</a:t>
            </a:r>
            <a:endParaRPr/>
          </a:p>
        </p:txBody>
      </p:sp>
      <p:sp>
        <p:nvSpPr>
          <p:cNvPr id="288" name="Google Shape;288;p26"/>
          <p:cNvSpPr txBox="1"/>
          <p:nvPr/>
        </p:nvSpPr>
        <p:spPr>
          <a:xfrm>
            <a:off x="5348150" y="3930600"/>
            <a:ext cx="2276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46.2</a:t>
            </a:r>
            <a:endParaRPr dirty="0"/>
          </a:p>
        </p:txBody>
      </p:sp>
      <p:sp>
        <p:nvSpPr>
          <p:cNvPr id="289" name="Google Shape;289;p26"/>
          <p:cNvSpPr txBox="1"/>
          <p:nvPr/>
        </p:nvSpPr>
        <p:spPr>
          <a:xfrm>
            <a:off x="5348138" y="4933950"/>
            <a:ext cx="22764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MHZ (MAX FREQUENCY)</a:t>
            </a:r>
            <a:endParaRPr/>
          </a:p>
        </p:txBody>
      </p:sp>
      <p:sp>
        <p:nvSpPr>
          <p:cNvPr id="290" name="Google Shape;290;p26"/>
          <p:cNvSpPr txBox="1"/>
          <p:nvPr/>
        </p:nvSpPr>
        <p:spPr>
          <a:xfrm>
            <a:off x="9373950" y="3896775"/>
            <a:ext cx="17145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16%</a:t>
            </a:r>
            <a:endParaRPr sz="1300"/>
          </a:p>
        </p:txBody>
      </p:sp>
      <p:sp>
        <p:nvSpPr>
          <p:cNvPr id="291" name="Google Shape;291;p26"/>
          <p:cNvSpPr txBox="1"/>
          <p:nvPr/>
        </p:nvSpPr>
        <p:spPr>
          <a:xfrm>
            <a:off x="9373975" y="4942275"/>
            <a:ext cx="17145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LOGIC DELAY</a:t>
            </a:r>
            <a:endParaRPr/>
          </a:p>
        </p:txBody>
      </p:sp>
      <p:sp>
        <p:nvSpPr>
          <p:cNvPr id="292" name="Google Shape;292;p26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Timing Analysis (Critical Path)</a:t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6"/>
          <p:cNvSpPr txBox="1"/>
          <p:nvPr/>
        </p:nvSpPr>
        <p:spPr>
          <a:xfrm>
            <a:off x="2286000" y="1695450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synthesis report confirms that the Parallel Prefix Adder significantly reduces the path delay compared to standard designs.</a:t>
            </a:r>
            <a:endParaRPr/>
          </a:p>
        </p:txBody>
      </p:sp>
      <p:sp>
        <p:nvSpPr>
          <p:cNvPr id="295" name="Google Shape;295;p26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  <p:sp>
        <p:nvSpPr>
          <p:cNvPr id="296" name="Google Shape;296;p26"/>
          <p:cNvSpPr txBox="1"/>
          <p:nvPr/>
        </p:nvSpPr>
        <p:spPr>
          <a:xfrm flipH="1">
            <a:off x="11143838" y="5181600"/>
            <a:ext cx="600900" cy="4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405687" y="24193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0062" y="3133725"/>
            <a:ext cx="1905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7"/>
          <p:cNvSpPr txBox="1"/>
          <p:nvPr/>
        </p:nvSpPr>
        <p:spPr>
          <a:xfrm>
            <a:off x="381000" y="3019425"/>
            <a:ext cx="575071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Efficient Area Usage</a:t>
            </a:r>
            <a:endParaRPr/>
          </a:p>
        </p:txBody>
      </p:sp>
      <p:sp>
        <p:nvSpPr>
          <p:cNvPr id="305" name="Google Shape;305;p27"/>
          <p:cNvSpPr txBox="1"/>
          <p:nvPr/>
        </p:nvSpPr>
        <p:spPr>
          <a:xfrm>
            <a:off x="381000" y="3552825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Despite the complexity of PPA, the design maintains a reasonable footprint on the FPGA.</a:t>
            </a:r>
            <a:endParaRPr/>
          </a:p>
        </p:txBody>
      </p:sp>
      <p:sp>
        <p:nvSpPr>
          <p:cNvPr id="306" name="Google Shape;306;p27"/>
          <p:cNvSpPr txBox="1"/>
          <p:nvPr/>
        </p:nvSpPr>
        <p:spPr>
          <a:xfrm>
            <a:off x="695325" y="43529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762000" y="4352925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Target Device: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Spartan-3 / Artix-7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695325" y="46577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309" name="Google Shape;309;p27"/>
          <p:cNvSpPr txBox="1"/>
          <p:nvPr/>
        </p:nvSpPr>
        <p:spPr>
          <a:xfrm>
            <a:off x="762000" y="4657725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Route Delay: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~84% (Due to interconnect complexity)</a:t>
            </a:r>
            <a:endParaRPr/>
          </a:p>
        </p:txBody>
      </p:sp>
      <p:sp>
        <p:nvSpPr>
          <p:cNvPr id="310" name="Google Shape;310;p27"/>
          <p:cNvSpPr txBox="1"/>
          <p:nvPr/>
        </p:nvSpPr>
        <p:spPr>
          <a:xfrm>
            <a:off x="695325" y="49625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311" name="Google Shape;311;p27"/>
          <p:cNvSpPr txBox="1"/>
          <p:nvPr/>
        </p:nvSpPr>
        <p:spPr>
          <a:xfrm>
            <a:off x="762000" y="4962525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Logic Delay: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~16% (Fast processing)</a:t>
            </a:r>
            <a:endParaRPr/>
          </a:p>
        </p:txBody>
      </p:sp>
      <p:sp>
        <p:nvSpPr>
          <p:cNvPr id="312" name="Google Shape;312;p27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Device Utilization (Area)</a:t>
            </a:r>
            <a:endParaRPr/>
          </a:p>
        </p:txBody>
      </p:sp>
      <p:sp>
        <p:nvSpPr>
          <p:cNvPr id="313" name="Google Shape;313;p27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7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Google Shape;319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 txBox="1"/>
          <p:nvPr/>
        </p:nvSpPr>
        <p:spPr>
          <a:xfrm>
            <a:off x="762000" y="3038772"/>
            <a:ext cx="5095875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High Speed: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Logarithmic delay reduction using PPA.</a:t>
            </a:r>
            <a:endParaRPr/>
          </a:p>
        </p:txBody>
      </p:sp>
      <p:sp>
        <p:nvSpPr>
          <p:cNvPr id="321" name="Google Shape;321;p28"/>
          <p:cNvSpPr txBox="1"/>
          <p:nvPr/>
        </p:nvSpPr>
        <p:spPr>
          <a:xfrm>
            <a:off x="762000" y="3564433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Regular Structure: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Easier to lay out on silicon compared to Wallace Trees.</a:t>
            </a:r>
            <a:endParaRPr/>
          </a:p>
        </p:txBody>
      </p:sp>
      <p:sp>
        <p:nvSpPr>
          <p:cNvPr id="322" name="Google Shape;322;p28"/>
          <p:cNvSpPr txBox="1"/>
          <p:nvPr/>
        </p:nvSpPr>
        <p:spPr>
          <a:xfrm>
            <a:off x="762000" y="4425255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No Encoding Overhead: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Faster than Booth's algorithm which requires encoding time.</a:t>
            </a:r>
            <a:endParaRPr/>
          </a:p>
        </p:txBody>
      </p:sp>
      <p:sp>
        <p:nvSpPr>
          <p:cNvPr id="323" name="Google Shape;323;p28"/>
          <p:cNvSpPr txBox="1"/>
          <p:nvPr/>
        </p:nvSpPr>
        <p:spPr>
          <a:xfrm>
            <a:off x="6715125" y="2871192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Power Efficient: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Reduced glitching activity compared to Array multipliers.</a:t>
            </a:r>
            <a:endParaRPr/>
          </a:p>
        </p:txBody>
      </p:sp>
      <p:sp>
        <p:nvSpPr>
          <p:cNvPr id="324" name="Google Shape;324;p28"/>
          <p:cNvSpPr txBox="1"/>
          <p:nvPr/>
        </p:nvSpPr>
        <p:spPr>
          <a:xfrm>
            <a:off x="6715125" y="3732014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Scalability: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Easily expandable to 64-bit or 128-bit architectures.</a:t>
            </a:r>
            <a:endParaRPr/>
          </a:p>
        </p:txBody>
      </p:sp>
      <p:sp>
        <p:nvSpPr>
          <p:cNvPr id="325" name="Google Shape;325;p28"/>
          <p:cNvSpPr txBox="1"/>
          <p:nvPr/>
        </p:nvSpPr>
        <p:spPr>
          <a:xfrm>
            <a:off x="6715125" y="4592835"/>
            <a:ext cx="5095875" cy="67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Throughput:</a:t>
            </a:r>
            <a:r>
              <a:rPr lang="en-US" sz="165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Higher operations per second for DSP applications.</a:t>
            </a:r>
            <a:endParaRPr/>
          </a:p>
        </p:txBody>
      </p:sp>
      <p:sp>
        <p:nvSpPr>
          <p:cNvPr id="326" name="Google Shape;326;p28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Key Advantages</a:t>
            </a:r>
            <a:endParaRPr/>
          </a:p>
        </p:txBody>
      </p:sp>
      <p:sp>
        <p:nvSpPr>
          <p:cNvPr id="327" name="Google Shape;327;p28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8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  <p:pic>
        <p:nvPicPr>
          <p:cNvPr id="329" name="Google Shape;329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03877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564433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442525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7119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73201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4592835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1695450"/>
            <a:ext cx="11430000" cy="478155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29"/>
          <p:cNvSpPr txBox="1"/>
          <p:nvPr/>
        </p:nvSpPr>
        <p:spPr>
          <a:xfrm>
            <a:off x="381000" y="5838825"/>
            <a:ext cx="1143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Comparison of Propagation Delay (Lower is Better)</a:t>
            </a:r>
            <a:endParaRPr/>
          </a:p>
        </p:txBody>
      </p:sp>
      <p:sp>
        <p:nvSpPr>
          <p:cNvPr id="342" name="Google Shape;342;p29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Performance Comparison</a:t>
            </a:r>
            <a:endParaRPr/>
          </a:p>
        </p:txBody>
      </p:sp>
      <p:sp>
        <p:nvSpPr>
          <p:cNvPr id="343" name="Google Shape;343;p29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9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2200275"/>
            <a:ext cx="2643187" cy="377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09937" y="2200275"/>
            <a:ext cx="2643187" cy="377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2200275"/>
            <a:ext cx="2643187" cy="377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3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67812" y="2200275"/>
            <a:ext cx="2643187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30"/>
          <p:cNvSpPr txBox="1"/>
          <p:nvPr/>
        </p:nvSpPr>
        <p:spPr>
          <a:xfrm>
            <a:off x="614957" y="3400425"/>
            <a:ext cx="21752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DSP Systems</a:t>
            </a:r>
            <a:endParaRPr/>
          </a:p>
        </p:txBody>
      </p:sp>
      <p:sp>
        <p:nvSpPr>
          <p:cNvPr id="355" name="Google Shape;355;p30"/>
          <p:cNvSpPr txBox="1"/>
          <p:nvPr/>
        </p:nvSpPr>
        <p:spPr>
          <a:xfrm>
            <a:off x="666750" y="3933825"/>
            <a:ext cx="2071687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Digital Signal Processing for filtering and noise reduction.</a:t>
            </a:r>
            <a:endParaRPr/>
          </a:p>
        </p:txBody>
      </p:sp>
      <p:sp>
        <p:nvSpPr>
          <p:cNvPr id="356" name="Google Shape;356;p30"/>
          <p:cNvSpPr txBox="1"/>
          <p:nvPr/>
        </p:nvSpPr>
        <p:spPr>
          <a:xfrm>
            <a:off x="3543895" y="3400425"/>
            <a:ext cx="2175271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FFT Algorithms</a:t>
            </a:r>
            <a:endParaRPr/>
          </a:p>
        </p:txBody>
      </p:sp>
      <p:sp>
        <p:nvSpPr>
          <p:cNvPr id="357" name="Google Shape;357;p30"/>
          <p:cNvSpPr txBox="1"/>
          <p:nvPr/>
        </p:nvSpPr>
        <p:spPr>
          <a:xfrm>
            <a:off x="3595687" y="4276725"/>
            <a:ext cx="2071687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Fast Fourier Transforms requiring massive complex multiplications.</a:t>
            </a:r>
            <a:endParaRPr/>
          </a:p>
        </p:txBody>
      </p:sp>
      <p:sp>
        <p:nvSpPr>
          <p:cNvPr id="358" name="Google Shape;358;p30"/>
          <p:cNvSpPr txBox="1"/>
          <p:nvPr/>
        </p:nvSpPr>
        <p:spPr>
          <a:xfrm>
            <a:off x="6472832" y="3400425"/>
            <a:ext cx="21752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MAC Units</a:t>
            </a:r>
            <a:endParaRPr/>
          </a:p>
        </p:txBody>
      </p:sp>
      <p:sp>
        <p:nvSpPr>
          <p:cNvPr id="359" name="Google Shape;359;p30"/>
          <p:cNvSpPr txBox="1"/>
          <p:nvPr/>
        </p:nvSpPr>
        <p:spPr>
          <a:xfrm>
            <a:off x="6524625" y="3933825"/>
            <a:ext cx="2071687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Multiply-Accumulate units in microprocessors and AI accelerators.</a:t>
            </a:r>
            <a:endParaRPr/>
          </a:p>
        </p:txBody>
      </p:sp>
      <p:sp>
        <p:nvSpPr>
          <p:cNvPr id="360" name="Google Shape;360;p30"/>
          <p:cNvSpPr txBox="1"/>
          <p:nvPr/>
        </p:nvSpPr>
        <p:spPr>
          <a:xfrm>
            <a:off x="9401770" y="3400425"/>
            <a:ext cx="217527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Cryptography</a:t>
            </a:r>
            <a:endParaRPr/>
          </a:p>
        </p:txBody>
      </p:sp>
      <p:sp>
        <p:nvSpPr>
          <p:cNvPr id="361" name="Google Shape;361;p30"/>
          <p:cNvSpPr txBox="1"/>
          <p:nvPr/>
        </p:nvSpPr>
        <p:spPr>
          <a:xfrm>
            <a:off x="9453562" y="3933825"/>
            <a:ext cx="2071687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High-speed encryption key generation.</a:t>
            </a:r>
            <a:endParaRPr/>
          </a:p>
        </p:txBody>
      </p:sp>
      <p:pic>
        <p:nvPicPr>
          <p:cNvPr id="362" name="Google Shape;362;p3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16843" y="259080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3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31506" y="259080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3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331868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3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60806" y="25908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0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Real-World Applications</a:t>
            </a:r>
            <a:endParaRPr/>
          </a:p>
        </p:txBody>
      </p:sp>
      <p:sp>
        <p:nvSpPr>
          <p:cNvPr id="367" name="Google Shape;367;p30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0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Google Shape;373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43587" y="1637407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31"/>
          <p:cNvSpPr txBox="1"/>
          <p:nvPr/>
        </p:nvSpPr>
        <p:spPr>
          <a:xfrm>
            <a:off x="1295400" y="2399407"/>
            <a:ext cx="96012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"Combining ancient algorithms with modern logic synthesis yields superior performance."</a:t>
            </a:r>
            <a:endParaRPr/>
          </a:p>
        </p:txBody>
      </p:sp>
      <p:sp>
        <p:nvSpPr>
          <p:cNvPr id="376" name="Google Shape;376;p31"/>
          <p:cNvSpPr txBox="1"/>
          <p:nvPr/>
        </p:nvSpPr>
        <p:spPr>
          <a:xfrm>
            <a:off x="1524000" y="3894832"/>
            <a:ext cx="9144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DM Sans"/>
                <a:ea typeface="DM Sans"/>
                <a:cs typeface="DM Sans"/>
                <a:sym typeface="DM Sans"/>
              </a:rPr>
              <a:t>The 32-bit Vedic Multiplier with PPA successfully bridges the gap between speed requirements and area constraints, proving to be an optimal solution for modern VLSI systems.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2"/>
          <p:cNvSpPr txBox="1"/>
          <p:nvPr/>
        </p:nvSpPr>
        <p:spPr>
          <a:xfrm>
            <a:off x="381000" y="2981325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1. Swami Bharati Krishna Tirthaji, "Vedic Mathematics", Motilal Banarsidass Publications, 1965.</a:t>
            </a:r>
            <a:endParaRPr/>
          </a:p>
        </p:txBody>
      </p:sp>
      <p:sp>
        <p:nvSpPr>
          <p:cNvPr id="383" name="Google Shape;383;p32"/>
          <p:cNvSpPr txBox="1"/>
          <p:nvPr/>
        </p:nvSpPr>
        <p:spPr>
          <a:xfrm>
            <a:off x="381000" y="3781425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2. Neil H. E. Weste, "CMOS VLSI Design: A Circuits and Systems Perspective".</a:t>
            </a:r>
            <a:endParaRPr/>
          </a:p>
        </p:txBody>
      </p:sp>
      <p:sp>
        <p:nvSpPr>
          <p:cNvPr id="384" name="Google Shape;384;p32"/>
          <p:cNvSpPr txBox="1"/>
          <p:nvPr/>
        </p:nvSpPr>
        <p:spPr>
          <a:xfrm>
            <a:off x="381000" y="4581525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3. Samir Palnitkar, "Verilog HDL: A Guide to Digital Design and Synthesis".</a:t>
            </a:r>
            <a:endParaRPr/>
          </a:p>
        </p:txBody>
      </p:sp>
      <p:sp>
        <p:nvSpPr>
          <p:cNvPr id="385" name="Google Shape;385;p32"/>
          <p:cNvSpPr txBox="1"/>
          <p:nvPr/>
        </p:nvSpPr>
        <p:spPr>
          <a:xfrm>
            <a:off x="6334125" y="3228975"/>
            <a:ext cx="54768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4. H. D. Tiwari et al., "Multiplier design based on ancient Indian Vedic Mathematics", ISOCC 2008.</a:t>
            </a:r>
            <a:endParaRPr/>
          </a:p>
        </p:txBody>
      </p:sp>
      <p:sp>
        <p:nvSpPr>
          <p:cNvPr id="386" name="Google Shape;386;p32"/>
          <p:cNvSpPr txBox="1"/>
          <p:nvPr/>
        </p:nvSpPr>
        <p:spPr>
          <a:xfrm>
            <a:off x="6334125" y="4029075"/>
            <a:ext cx="54768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5. P. M. Kogge and H. S. Stone, "A Parallel Algorithm for the Efficient Solution of a General Class of Recurrence Equations", 1973.</a:t>
            </a:r>
            <a:endParaRPr/>
          </a:p>
        </p:txBody>
      </p:sp>
      <p:sp>
        <p:nvSpPr>
          <p:cNvPr id="387" name="Google Shape;387;p32"/>
          <p:cNvSpPr txBox="1"/>
          <p:nvPr/>
        </p:nvSpPr>
        <p:spPr>
          <a:xfrm>
            <a:off x="381000" y="381000"/>
            <a:ext cx="11811000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References</a:t>
            </a:r>
            <a:endParaRPr/>
          </a:p>
        </p:txBody>
      </p:sp>
      <p:sp>
        <p:nvSpPr>
          <p:cNvPr id="388" name="Google Shape;388;p32"/>
          <p:cNvSpPr/>
          <p:nvPr/>
        </p:nvSpPr>
        <p:spPr>
          <a:xfrm>
            <a:off x="381000" y="1095375"/>
            <a:ext cx="11430000" cy="28575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10982325" y="6496050"/>
            <a:ext cx="92392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94A3B8"/>
                </a:solidFill>
                <a:latin typeface="DM Sans"/>
                <a:ea typeface="DM Sans"/>
                <a:cs typeface="DM Sans"/>
                <a:sym typeface="DM Sans"/>
              </a:rPr>
              <a:t>Batch 10 - ECE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3"/>
          <p:cNvSpPr txBox="1"/>
          <p:nvPr/>
        </p:nvSpPr>
        <p:spPr>
          <a:xfrm>
            <a:off x="4455750" y="3128850"/>
            <a:ext cx="32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THANK YOU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1288</Words>
  <Application>Microsoft Office PowerPoint</Application>
  <PresentationFormat>Widescreen</PresentationFormat>
  <Paragraphs>135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Merriweather</vt:lpstr>
      <vt:lpstr>DM Sans Medium</vt:lpstr>
      <vt:lpstr>DM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Abdul Hameed</cp:lastModifiedBy>
  <cp:revision>1</cp:revision>
  <dcterms:modified xsi:type="dcterms:W3CDTF">2026-01-27T04:03:56Z</dcterms:modified>
</cp:coreProperties>
</file>